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83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627632" y="1005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54096" y="1005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27632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40864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54096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8985" y="3575304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CAESAR TO VIGENÈRE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914400" y="46451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Substitution Ciphers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By,</a:t>
            </a:r>
          </a:p>
          <a:p>
            <a:pPr marL="0" indent="0">
              <a:buNone/>
            </a:pPr>
            <a:r>
              <a:rPr lang="en-US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Nandhini P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7EC15DC-6E24-939D-2E50-BB14F32A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2954"/>
            <a:ext cx="12192001" cy="22075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Substitution Cipher?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substitution cipher is a method of encryption where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in the plaintext is replaced by another letter or symbol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according to a fixed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935224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614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letters stays the same — only the letters themselves change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9584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558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oldest known encryption techniques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23944"/>
            <a:ext cx="128016" cy="12801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502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for later, more advanced ciphers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37160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Mapping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2860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26680" y="22860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22860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81160" y="22860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0" y="228600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0" y="32004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26680" y="32004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281160" y="32004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0" y="32004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2834640"/>
            <a:ext cx="0" cy="365760"/>
          </a:xfrm>
          <a:prstGeom prst="line">
            <a:avLst/>
          </a:prstGeom>
          <a:noFill/>
          <a:ln w="19050">
            <a:solidFill>
              <a:srgbClr val="8FA99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2834640"/>
            <a:ext cx="0" cy="365760"/>
          </a:xfrm>
          <a:prstGeom prst="line">
            <a:avLst/>
          </a:prstGeom>
          <a:noFill/>
          <a:ln w="19050">
            <a:solidFill>
              <a:srgbClr val="8FA99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778240" y="2834640"/>
            <a:ext cx="0" cy="365760"/>
          </a:xfrm>
          <a:prstGeom prst="line">
            <a:avLst/>
          </a:prstGeom>
          <a:noFill/>
          <a:ln w="19050">
            <a:solidFill>
              <a:srgbClr val="8FA99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555480" y="2834640"/>
            <a:ext cx="0" cy="365760"/>
          </a:xfrm>
          <a:prstGeom prst="line">
            <a:avLst/>
          </a:prstGeom>
          <a:noFill/>
          <a:ln w="19050">
            <a:solidFill>
              <a:srgbClr val="8FA99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32720" y="2834640"/>
            <a:ext cx="0" cy="365760"/>
          </a:xfrm>
          <a:prstGeom prst="line">
            <a:avLst/>
          </a:prstGeom>
          <a:noFill/>
          <a:ln w="19050">
            <a:solidFill>
              <a:srgbClr val="8FA998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85800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Plaintext:  HELLO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Ciphertext:  KHOOR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letter shifted by a fixed rule)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Caesar Cipher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Julius Caesar, who used it in private correspondence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43230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2677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letter is shifted a fixed number of places down the alphabet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20954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04495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amount is called the KEY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986784"/>
            <a:ext cx="118872" cy="1188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8221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shifts every letter — it never changes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80060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00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  C = (P + K) mod 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60020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Shift Key = 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0" y="2514600"/>
            <a:ext cx="566928" cy="566928"/>
          </a:xfrm>
          <a:prstGeom prst="ellipse">
            <a:avLst/>
          </a:prstGeom>
          <a:solidFill>
            <a:srgbClr val="F5F3EA"/>
          </a:solidFill>
          <a:ln w="12700">
            <a:solidFill>
              <a:srgbClr val="F5F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0" y="2514600"/>
            <a:ext cx="566928" cy="566928"/>
          </a:xfrm>
          <a:prstGeom prst="ellipse">
            <a:avLst/>
          </a:prstGeom>
          <a:solidFill>
            <a:srgbClr val="F5F3EA"/>
          </a:solidFill>
          <a:ln w="12700">
            <a:solidFill>
              <a:srgbClr val="F5F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515600" y="2514600"/>
            <a:ext cx="566928" cy="566928"/>
          </a:xfrm>
          <a:prstGeom prst="ellipse">
            <a:avLst/>
          </a:prstGeom>
          <a:solidFill>
            <a:srgbClr val="F5F3EA"/>
          </a:solidFill>
          <a:ln w="12700">
            <a:solidFill>
              <a:srgbClr val="F5F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0" y="342900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0" y="342900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515600" y="342900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55864" y="3081528"/>
            <a:ext cx="0" cy="347472"/>
          </a:xfrm>
          <a:prstGeom prst="line">
            <a:avLst/>
          </a:prstGeom>
          <a:noFill/>
          <a:ln w="19050">
            <a:solidFill>
              <a:srgbClr val="F5F3E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27464" y="3081528"/>
            <a:ext cx="0" cy="347472"/>
          </a:xfrm>
          <a:prstGeom prst="line">
            <a:avLst/>
          </a:prstGeom>
          <a:noFill/>
          <a:ln w="19050">
            <a:solidFill>
              <a:srgbClr val="F5F3E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799064" y="3081528"/>
            <a:ext cx="0" cy="347472"/>
          </a:xfrm>
          <a:prstGeom prst="line">
            <a:avLst/>
          </a:prstGeom>
          <a:noFill/>
          <a:ln w="19050">
            <a:solidFill>
              <a:srgbClr val="F5F3EA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263640" y="4160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 →  FDW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moves forward 3 places in the alphabet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 of the Caesar Cipher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8820" y="1783080"/>
            <a:ext cx="731520" cy="73152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888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25 Possible Keys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just 25 shifts to try, an attacker can test every single one — this is called a brute-force attack.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29300" y="1783080"/>
            <a:ext cx="731520" cy="73152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293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like E and T appear far more often in English. Matching frequent cipher letters to common plaintext letters breaks the code quickly.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69780" y="1783080"/>
            <a:ext cx="731520" cy="73152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697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58200" y="27432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Pattern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33375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occurrence of a letter shifts the same way, patterns in the plaintext carry straight through to the ciphertext.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Caesar cipher is a monoalphabetic cipher, one letter always maps to the same cipher letter — a serious flaw fixed by later methods.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Step: Polyalphabetic Ciphers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Cryptographers needed a cipher where the same letter could map differently each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5F3E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212080" cy="3200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Monoalphabetic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(e.g. Caesar)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substitution alphabet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51560" y="3118104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 → always the same cipher letter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51560" y="3712464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5478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frequency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4306824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142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break with enough ciphertext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5F3EA"/>
          </a:solidFill>
          <a:ln w="19050">
            <a:solidFill>
              <a:srgbClr val="8FA9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8FA99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148840"/>
            <a:ext cx="5212080" cy="320040"/>
          </a:xfrm>
          <a:prstGeom prst="rect">
            <a:avLst/>
          </a:prstGeom>
          <a:solidFill>
            <a:srgbClr val="8FA99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Polyalphabetic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(e.g. Vigenère)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shifting substitution alphabets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118104"/>
            <a:ext cx="109728" cy="109728"/>
          </a:xfrm>
          <a:prstGeom prst="ellipse">
            <a:avLst/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535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 → different cipher letters depending on position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712464"/>
            <a:ext cx="109728" cy="109728"/>
          </a:xfrm>
          <a:prstGeom prst="ellipse">
            <a:avLst/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35478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letter-frequency patterns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306824"/>
            <a:ext cx="109728" cy="109728"/>
          </a:xfrm>
          <a:prstGeom prst="ellipse">
            <a:avLst/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14223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stronger against simple attacks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Vigenère Cipher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in the 16th century — uses a repeating keyword instead of one fixed shift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a keyword is repeated to match the message length. Each keyword letter tells you how far to shift the matching plaintext letter — so the shift amount changes every position instead of staying fixed.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46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246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3246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246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3246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246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0" y="3246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246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0" y="32461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246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931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926080" y="3931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63440" y="3931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3931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138160" y="3931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0" y="4617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88720" y="46177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926080" y="46177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663440" y="46177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400800" y="46177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138160" y="46177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8FA998"/>
          </a:solidFill>
          <a:ln w="12700">
            <a:solidFill>
              <a:srgbClr val="8FA9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46177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letter L appears twice in "HELLO" but encrypts to two different letters (J and V) — this is what defeats simple frequency analysis.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9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 vs. Vigenère —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926080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49040" y="1417320"/>
            <a:ext cx="3794760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14173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 Cipher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794760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14173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Vigenère Cipher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92608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03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379476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103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Monoalphabetic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43800" y="2103120"/>
            <a:ext cx="379476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103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Polyalphabetic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2788920"/>
            <a:ext cx="292608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88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49040" y="2788920"/>
            <a:ext cx="379476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2788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(shift)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43800" y="2788920"/>
            <a:ext cx="379476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788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keyword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3474720"/>
            <a:ext cx="292608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74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749040" y="3474720"/>
            <a:ext cx="379476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34747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543800" y="3474720"/>
            <a:ext cx="3794760" cy="685800"/>
          </a:xfrm>
          <a:prstGeom prst="rect">
            <a:avLst/>
          </a:prstGeom>
          <a:solidFill>
            <a:srgbClr val="1B2A41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34747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stronger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292608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1605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weakness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749040" y="4160520"/>
            <a:ext cx="379476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41605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43800" y="4160520"/>
            <a:ext cx="3794760" cy="685800"/>
          </a:xfrm>
          <a:prstGeom prst="rect">
            <a:avLst/>
          </a:prstGeom>
          <a:solidFill>
            <a:srgbClr val="22314A"/>
          </a:solidFill>
          <a:ln w="12700">
            <a:solidFill>
              <a:srgbClr val="1019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41605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length can be estimated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296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ciphers evolved from Caesar's simple fixed shift to Vigenère's shifting, keyword-based system — a key step toward modern cryptography.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551615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558</Words>
  <Application>Microsoft Office PowerPoint</Application>
  <PresentationFormat>Widescreen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Nitheesh kanna J</cp:lastModifiedBy>
  <cp:revision>2</cp:revision>
  <dcterms:created xsi:type="dcterms:W3CDTF">2026-07-22T13:17:48Z</dcterms:created>
  <dcterms:modified xsi:type="dcterms:W3CDTF">2026-07-29T13:23:08Z</dcterms:modified>
</cp:coreProperties>
</file>