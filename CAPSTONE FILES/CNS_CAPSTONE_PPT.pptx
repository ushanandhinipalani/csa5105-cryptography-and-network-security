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EAE16-F49C-4ECF-8CA1-85797C4EAAF9}" v="558" dt="2026-09-01T03:20:16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331" y="2056014"/>
            <a:ext cx="106984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3100" b="1" i="0">
                <a:solidFill>
                  <a:srgbClr val="142746"/>
                </a:solidFill>
                <a:latin typeface="Times New Roman"/>
              </a:rPr>
              <a:t>AI-Powered Adaptive Encryption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2168" y="2620633"/>
            <a:ext cx="96926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0" i="0">
                <a:solidFill>
                  <a:srgbClr val="245B91"/>
                </a:solidFill>
                <a:latin typeface="Times New Roman"/>
              </a:rPr>
              <a:t>for Intelligent Data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726873" y="3392054"/>
            <a:ext cx="4846320" cy="41148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98073" y="3619731"/>
            <a:ext cx="85039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US" sz="1600" b="1">
                <a:solidFill>
                  <a:srgbClr val="191C21"/>
                </a:solidFill>
                <a:latin typeface="Times New Roman"/>
                <a:cs typeface="Times New Roman"/>
              </a:rPr>
              <a:t>CSA 5105</a:t>
            </a:r>
            <a:endParaRPr lang="en-US" sz="1600" b="1" dirty="0">
              <a:solidFill>
                <a:srgbClr val="191C21"/>
              </a:solidFill>
              <a:latin typeface="Times New Roman"/>
            </a:endParaRPr>
          </a:p>
          <a:p>
            <a:pPr algn="ctr"/>
            <a:r>
              <a:rPr sz="1600" b="1" i="0">
                <a:solidFill>
                  <a:srgbClr val="191C21"/>
                </a:solidFill>
                <a:latin typeface="Times New Roman"/>
              </a:rPr>
              <a:t>Cryptography &amp; Network Security Project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32514" y="5076766"/>
            <a:ext cx="85039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 i="0">
                <a:solidFill>
                  <a:srgbClr val="58606C"/>
                </a:solidFill>
                <a:latin typeface="Times New Roman"/>
              </a:rPr>
              <a:t>Presented by</a:t>
            </a:r>
            <a:endParaRPr lang="en-US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6553" y="5389603"/>
            <a:ext cx="4736870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 i="0">
                <a:solidFill>
                  <a:srgbClr val="142746"/>
                </a:solidFill>
                <a:latin typeface="Times New Roman"/>
              </a:rPr>
              <a:t>Mahima Prabhakaran</a:t>
            </a:r>
            <a:r>
              <a:rPr lang="en-US" b="1" dirty="0">
                <a:solidFill>
                  <a:srgbClr val="142746"/>
                </a:solidFill>
                <a:latin typeface="Times New Roman"/>
              </a:rPr>
              <a:t>   </a:t>
            </a:r>
            <a:r>
              <a:rPr b="1" i="0">
                <a:solidFill>
                  <a:srgbClr val="142746"/>
                </a:solidFill>
                <a:latin typeface="Times New Roman"/>
              </a:rPr>
              <a:t>•</a:t>
            </a:r>
            <a:r>
              <a:rPr lang="en-US" b="1" dirty="0">
                <a:solidFill>
                  <a:srgbClr val="142746"/>
                </a:solidFill>
                <a:latin typeface="Times New Roman"/>
              </a:rPr>
              <a:t>  192521280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ctr"/>
            <a:r>
              <a:rPr b="1" i="0">
                <a:solidFill>
                  <a:srgbClr val="142746"/>
                </a:solidFill>
                <a:latin typeface="Times New Roman"/>
              </a:rPr>
              <a:t>Usha Nandhini P</a:t>
            </a:r>
            <a:r>
              <a:rPr lang="en-US" b="1" dirty="0">
                <a:solidFill>
                  <a:srgbClr val="142746"/>
                </a:solidFill>
                <a:latin typeface="Times New Roman"/>
              </a:rPr>
              <a:t> </a:t>
            </a:r>
            <a:r>
              <a:rPr b="1" i="0">
                <a:solidFill>
                  <a:srgbClr val="142746"/>
                </a:solidFill>
                <a:latin typeface="Times New Roman"/>
              </a:rPr>
              <a:t> •</a:t>
            </a:r>
            <a:r>
              <a:rPr lang="en-US" b="1" dirty="0">
                <a:solidFill>
                  <a:srgbClr val="142746"/>
                </a:solidFill>
                <a:latin typeface="Times New Roman"/>
              </a:rPr>
              <a:t> 192511263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b="1">
                <a:solidFill>
                  <a:srgbClr val="142746"/>
                </a:solidFill>
                <a:latin typeface="Times New Roman"/>
              </a:rPr>
              <a:t>Yerabapu</a:t>
            </a:r>
            <a:r>
              <a:rPr b="1" i="0">
                <a:solidFill>
                  <a:srgbClr val="142746"/>
                </a:solidFill>
                <a:latin typeface="Times New Roman"/>
              </a:rPr>
              <a:t> Deepthi</a:t>
            </a:r>
            <a:r>
              <a:rPr lang="en-US" b="1" dirty="0">
                <a:solidFill>
                  <a:srgbClr val="142746"/>
                </a:solidFill>
                <a:latin typeface="Times New Roman"/>
              </a:rPr>
              <a:t>  •  192371040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b="1">
                <a:solidFill>
                  <a:srgbClr val="142746"/>
                </a:solidFill>
                <a:latin typeface="Times New Roman"/>
              </a:rPr>
              <a:t>N </a:t>
            </a:r>
            <a:r>
              <a:rPr b="1" i="0">
                <a:solidFill>
                  <a:srgbClr val="142746"/>
                </a:solidFill>
                <a:latin typeface="Times New Roman"/>
              </a:rPr>
              <a:t>Nikhitha</a:t>
            </a:r>
            <a:r>
              <a:rPr lang="en-US" b="1">
                <a:solidFill>
                  <a:srgbClr val="142746"/>
                </a:solidFill>
                <a:latin typeface="Times New Roman"/>
              </a:rPr>
              <a:t>  •  192311386</a:t>
            </a:r>
            <a:endParaRPr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1254" y="5229352"/>
            <a:ext cx="409355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 i="0">
                <a:solidFill>
                  <a:srgbClr val="58606C"/>
                </a:solidFill>
                <a:latin typeface="Times New Roman"/>
              </a:rPr>
              <a:t>Guided by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b="1">
                <a:solidFill>
                  <a:srgbClr val="142746"/>
                </a:solidFill>
                <a:latin typeface="Times New Roman"/>
                <a:cs typeface="Times New Roman"/>
              </a:rPr>
              <a:t>Dr. L. P. Supriya</a:t>
            </a:r>
            <a:endParaRPr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C7D174-2832-3188-15B0-581EEBF1D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" y="1877"/>
            <a:ext cx="12192288" cy="1404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Why the system is needed and what it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245B91"/>
                </a:solidFill>
                <a:latin typeface="Times New Roman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2297" y="1398742"/>
            <a:ext cx="5074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Problem</a:t>
            </a:r>
            <a:endParaRPr lang="en-US" sz="1600" b="1" i="0">
              <a:solidFill>
                <a:srgbClr val="142746"/>
              </a:solidFill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5056631" cy="19082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91C21"/>
                </a:solidFill>
                <a:latin typeface="Times New Roman"/>
              </a:rPr>
              <a:t>• </a:t>
            </a:r>
            <a:r>
              <a:rPr b="0" i="0">
                <a:solidFill>
                  <a:srgbClr val="191C21"/>
                </a:solidFill>
                <a:latin typeface="Times New Roman"/>
              </a:rPr>
              <a:t>Traditional systems often apply a fixed encryption method to every file.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 fixed strategy may not balance security requirements and computational cost.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Users may not know which cryptographic strategy is appropriate for a given file.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48030" y="1398742"/>
            <a:ext cx="5074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Proposed System</a:t>
            </a:r>
            <a:endParaRPr lang="en-US" sz="1600" b="1" i="0">
              <a:solidFill>
                <a:srgbClr val="142746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36792" y="1764792"/>
            <a:ext cx="5056631" cy="34470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91C21"/>
                </a:solidFill>
                <a:latin typeface="Times New Roman"/>
              </a:rPr>
              <a:t>• </a:t>
            </a:r>
            <a:r>
              <a:rPr b="0" i="0">
                <a:solidFill>
                  <a:srgbClr val="191C21"/>
                </a:solidFill>
                <a:latin typeface="Times New Roman"/>
              </a:rPr>
              <a:t>AEGIS analyzes file type, file size, sensitivity and user priority.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 Decision Tree recommends an appropriate encryption strategy.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The selected cryptographic algorithm performs the real encryption.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The application exposes the lifecycle: key generation, encryption, integrity, ciphertext inspection, saving and authorized decryption.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Audit logs and performance metrics provide accountability and transparency.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63BA-B1E5-20A0-E904-89F38A95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749552-D63A-49CB-7BAF-6C21C141912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01DD7-B14D-8B73-49B8-C8EA07A08299}"/>
              </a:ext>
            </a:extLst>
          </p:cNvPr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2800" b="1">
                <a:solidFill>
                  <a:srgbClr val="142746"/>
                </a:solidFill>
                <a:latin typeface="Times New Roman"/>
                <a:cs typeface="Times New Roman"/>
              </a:rPr>
              <a:t>Introduction</a:t>
            </a:r>
            <a:endParaRPr lang="en-US" sz="2800" b="1" i="0" dirty="0">
              <a:solidFill>
                <a:srgbClr val="142746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8340D-6D20-A041-D848-4DB6F7301DA5}"/>
              </a:ext>
            </a:extLst>
          </p:cNvPr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03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74499D-B466-CE80-0B13-37C91B8EEB80}"/>
              </a:ext>
            </a:extLst>
          </p:cNvPr>
          <p:cNvSpPr txBox="1"/>
          <p:nvPr/>
        </p:nvSpPr>
        <p:spPr>
          <a:xfrm>
            <a:off x="588818" y="877454"/>
            <a:ext cx="11014363" cy="41975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With the increasing volume of digital data, protecting sensitive files from unauthorized access and modification has become essential. 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Traditional systems often rely on a </a:t>
            </a:r>
            <a:r>
              <a:rPr lang="en-US" b="1">
                <a:latin typeface="Times New Roman"/>
                <a:cs typeface="Times New Roman"/>
              </a:rPr>
              <a:t>fixed encryption algorithm</a:t>
            </a:r>
            <a:r>
              <a:rPr lang="en-US">
                <a:latin typeface="Times New Roman"/>
                <a:cs typeface="Times New Roman"/>
              </a:rPr>
              <a:t> for different types of files, without considering their individual security and performance requirements.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Our project, </a:t>
            </a:r>
            <a:r>
              <a:rPr lang="en-US" b="1">
                <a:latin typeface="Times New Roman"/>
                <a:cs typeface="Times New Roman"/>
              </a:rPr>
              <a:t>AI-Powered Adaptive Encryption System</a:t>
            </a:r>
            <a:r>
              <a:rPr lang="en-US">
                <a:latin typeface="Times New Roman"/>
                <a:cs typeface="Times New Roman"/>
              </a:rPr>
              <a:t>, combines </a:t>
            </a:r>
            <a:r>
              <a:rPr lang="en-US" b="1">
                <a:latin typeface="Times New Roman"/>
                <a:cs typeface="Times New Roman"/>
              </a:rPr>
              <a:t>Machine Learning with established cryptographic techniques</a:t>
            </a:r>
            <a:r>
              <a:rPr lang="en-US">
                <a:latin typeface="Times New Roman"/>
                <a:cs typeface="Times New Roman"/>
              </a:rPr>
              <a:t> to provide intelligent and adaptive file protection.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system analyzes </a:t>
            </a:r>
            <a:r>
              <a:rPr lang="en-US" b="1">
                <a:latin typeface="Times New Roman"/>
                <a:cs typeface="Times New Roman"/>
              </a:rPr>
              <a:t>file type, file size, sensitivity, and user priority</a:t>
            </a:r>
            <a:r>
              <a:rPr lang="en-US">
                <a:latin typeface="Times New Roman"/>
                <a:cs typeface="Times New Roman"/>
              </a:rPr>
              <a:t> and uses a </a:t>
            </a:r>
            <a:r>
              <a:rPr lang="en-US" b="1">
                <a:latin typeface="Times New Roman"/>
                <a:cs typeface="Times New Roman"/>
              </a:rPr>
              <a:t>Decision Tree</a:t>
            </a:r>
            <a:r>
              <a:rPr lang="en-US">
                <a:latin typeface="Times New Roman"/>
                <a:cs typeface="Times New Roman"/>
              </a:rPr>
              <a:t> to recommend a suitable encryption strategy.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The selected algorithm performs the actual encryption, while </a:t>
            </a:r>
            <a:r>
              <a:rPr lang="en-US" b="1">
                <a:latin typeface="Times New Roman"/>
                <a:cs typeface="Times New Roman"/>
              </a:rPr>
              <a:t>SHA-256, authenticated encryption, secure key management, audit logging, and ciphertext inspection</a:t>
            </a:r>
            <a:r>
              <a:rPr lang="en-US">
                <a:latin typeface="Times New Roman"/>
                <a:cs typeface="Times New Roman"/>
              </a:rPr>
              <a:t> strengthen the protection and transparency of the system. 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F6DEA9-7FF5-E3CD-20E3-33B62EABBF2E}"/>
              </a:ext>
            </a:extLst>
          </p:cNvPr>
          <p:cNvSpPr/>
          <p:nvPr/>
        </p:nvSpPr>
        <p:spPr>
          <a:xfrm>
            <a:off x="1066800" y="5350165"/>
            <a:ext cx="9954490" cy="120303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Core Idea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Arial,Sans-Serif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Analyze → Decide with AI → Encrypt → Verify → Save/Inspect → Securely Decrypt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 🔐</a:t>
            </a: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0229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Moving from fixed encryption to adaptive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04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754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42746"/>
                </a:solidFill>
                <a:latin typeface="Times New Roman"/>
              </a:rPr>
              <a:t>The limitation of a one-size-fits-all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48056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892807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1892807"/>
            <a:ext cx="37856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Same algorithm for every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2167128"/>
            <a:ext cx="3785616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8606C"/>
                </a:solidFill>
                <a:latin typeface="Times New Roman"/>
              </a:rPr>
              <a:t>Ignores file characteristics and security priorities.</a:t>
            </a:r>
            <a:endParaRPr lang="en-US" sz="11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560320"/>
            <a:ext cx="0" cy="347472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926080"/>
            <a:ext cx="448056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035808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4495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3035808"/>
            <a:ext cx="37856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Possible security / performance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3310128"/>
            <a:ext cx="3785616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8606C"/>
                </a:solidFill>
                <a:latin typeface="Times New Roman"/>
              </a:rPr>
              <a:t>A strategy optimized for one situation may not be ideal for another.</a:t>
            </a:r>
            <a:endParaRPr lang="en-US" sz="11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3703320"/>
            <a:ext cx="0" cy="347471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069080"/>
            <a:ext cx="4480560" cy="777240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4178808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18795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4178808"/>
            <a:ext cx="378561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Need for intelligent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453128"/>
            <a:ext cx="3785616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8606C"/>
                </a:solidFill>
                <a:latin typeface="Times New Roman"/>
              </a:rPr>
              <a:t>Machine Learning can assist in selecting a suitable strategy.</a:t>
            </a:r>
            <a:endParaRPr lang="en-US" sz="11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88000" y="1165167"/>
            <a:ext cx="5715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9774" y="1443274"/>
            <a:ext cx="5440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Project Motivation</a:t>
            </a:r>
            <a:endParaRPr lang="en-US" sz="1600" b="1" i="0">
              <a:solidFill>
                <a:srgbClr val="142746"/>
              </a:solidFill>
              <a:latin typeface="Times New Roman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79592" y="1764792"/>
            <a:ext cx="5422392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91C21"/>
                </a:solidFill>
                <a:latin typeface="Times New Roman"/>
              </a:rPr>
              <a:t>• </a:t>
            </a:r>
            <a:r>
              <a:rPr b="0" i="0">
                <a:solidFill>
                  <a:srgbClr val="191C21"/>
                </a:solidFill>
                <a:latin typeface="Times New Roman"/>
              </a:rPr>
              <a:t>Adapt protection to the characteristics of the uploaded file.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Balance security and performance through explicit user priorities.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Use established cryptographic algorithms rather than inventing a new cipher.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Make the cryptographic process visible and explainable.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Create an auditable platform suitable for practical demonstration.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030" y="6356386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What the project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05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7240" y="1234440"/>
            <a:ext cx="475488" cy="47548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71016"/>
            <a:ext cx="47548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216152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Adaptive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16152"/>
            <a:ext cx="73152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191C21"/>
                </a:solidFill>
                <a:latin typeface="Times New Roman"/>
              </a:rPr>
              <a:t>Use Machine Learning to recommend a suitable encryption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2" y="1801368"/>
            <a:ext cx="923544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194560"/>
            <a:ext cx="475488" cy="47548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31136"/>
            <a:ext cx="47548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176272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Strong Cryptography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76272"/>
            <a:ext cx="73152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191C21"/>
                </a:solidFill>
                <a:latin typeface="Times New Roman"/>
              </a:rPr>
              <a:t>Implement authenticated encryption and protected key management.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4752" y="2761488"/>
            <a:ext cx="923544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154680"/>
            <a:ext cx="475488" cy="47548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91256"/>
            <a:ext cx="47548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136392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Transparent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36392"/>
            <a:ext cx="73152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191C21"/>
                </a:solidFill>
                <a:latin typeface="Times New Roman"/>
              </a:rPr>
              <a:t>Show the user what happens from file analysis to ciphertext and verification.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4752" y="3721608"/>
            <a:ext cx="923544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4114800"/>
            <a:ext cx="475488" cy="47548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151376"/>
            <a:ext cx="47548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096512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Secure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96512"/>
            <a:ext cx="73152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191C21"/>
                </a:solidFill>
                <a:latin typeface="Times New Roman"/>
              </a:rPr>
              <a:t>Support authorized decryption and integrity verification.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44752" y="4681728"/>
            <a:ext cx="9235440" cy="109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7240" y="5074920"/>
            <a:ext cx="475488" cy="47548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111496"/>
            <a:ext cx="47548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5056632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Accountability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56632"/>
            <a:ext cx="73152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191C21"/>
                </a:solidFill>
                <a:latin typeface="Times New Roman"/>
              </a:rPr>
              <a:t>Maintain audit logs, access control and performance statistics.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243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Existing approaches and the gap addressed by AEGIS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539490"/>
              </p:ext>
            </p:extLst>
          </p:nvPr>
        </p:nvGraphicFramePr>
        <p:xfrm>
          <a:off x="623872" y="1391678"/>
          <a:ext cx="11201399" cy="514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433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Research Focus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Contribution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 / Gap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993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Rath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AES–RSA hybrid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Combines AES and RSA for confidentiality, integrity and key management.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Fixed hybrid scheme; no adaptive selection.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433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Bharti &amp; Singh (2024)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AES–RSA for cloud security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Uses AES for data and RSA for secure key exchange.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Does not intelligently select the approach.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433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Alghamdi &amp; Munir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Image encryption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Reviews security and computational evaluation of encryption methods.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Compares methods rather than dynamically selecting 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433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Paracha et al. (2024)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ML security &amp; privacy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Highlights ML for cybersecurity and security automation.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Does not integrate ML with adaptive encryption.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8554" y="6308005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Four modules form one continuous application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07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96596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6245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Secure User Registration &amp; File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Authentication, upload, file analysis, sensitivity and priority capture.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03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64008" cy="1965960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6245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AI Adaptive Encryption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73736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Decision Tree analyzes the input features and recommends a strategy.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303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64008" cy="1965960"/>
          </a:xfrm>
          <a:prstGeom prst="rect">
            <a:avLst/>
          </a:prstGeom>
          <a:solidFill>
            <a:srgbClr val="23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785615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Adaptive Encryption &amp; Secure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6052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Performs AES/ChaCha20/Hybrid encryption, integrity protection, saving and decryption.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303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657600"/>
            <a:ext cx="64008" cy="1965960"/>
          </a:xfrm>
          <a:prstGeom prst="rect">
            <a:avLst/>
          </a:prstGeom>
          <a:solidFill>
            <a:srgbClr val="14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Audit, Performance &amp;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16052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Records activity, controls roles and displays security/performance analytics.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Module 1 — Secure User Registration &amp; File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982" y="6223339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Creates the trusted starting point and prepares inputs for the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08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0671" y="1362456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64792"/>
            <a:ext cx="3227832" cy="19851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Username and password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File to upload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Sensitivity: Low / Medium / High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Priority: Speed / Balanced / Security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7901" y="1385547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227832" cy="24160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Register / authenticate user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Verify credentials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Receive uploaded file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Detect file type and extension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Calculate file size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Prepare metadata and security profile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520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5039" y="1362456"/>
            <a:ext cx="3246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764792"/>
            <a:ext cx="3227832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Authenticated user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Uploaded file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File metadata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Security profile for Module 2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Audit event for user activity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Module 2 — AI Adaptive Encryption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125" y="6247529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The AI layer selects the cryptographic strategy; it does not encrypt the file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09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INPUT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2564"/>
            <a:ext cx="2971800" cy="530352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1709928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1709928"/>
            <a:ext cx="22768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File type /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1984248"/>
            <a:ext cx="2276856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8606C"/>
                </a:solidFill>
                <a:latin typeface="Times New Roman"/>
              </a:rPr>
              <a:t>Feature supplied by Module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5796"/>
            <a:ext cx="2971800" cy="530352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95528" y="2423160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432304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423160"/>
            <a:ext cx="22768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File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2697480"/>
            <a:ext cx="2276856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8606C"/>
                </a:solidFill>
                <a:latin typeface="Times New Roman"/>
              </a:rPr>
              <a:t>Feature supplied by Module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95937"/>
            <a:ext cx="2971800" cy="530352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5528" y="3136392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45536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3136392"/>
            <a:ext cx="22768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Sensitivity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3410712"/>
            <a:ext cx="2276856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8606C"/>
                </a:solidFill>
                <a:latin typeface="Times New Roman"/>
              </a:rPr>
              <a:t>Feature supplied by Module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09169"/>
            <a:ext cx="2971800" cy="530352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5528" y="3849624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85876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849624"/>
            <a:ext cx="22768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User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4123944"/>
            <a:ext cx="2276856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8606C"/>
                </a:solidFill>
                <a:latin typeface="Times New Roman"/>
              </a:rPr>
              <a:t>Feature supplied by Module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1920240"/>
            <a:ext cx="3154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0520" y="1920240"/>
            <a:ext cx="64008" cy="2103120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25112" y="2048256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42746"/>
                </a:solidFill>
                <a:latin typeface="Times New Roman"/>
              </a:rPr>
              <a:t>DECISION TREE CLASSIFIER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3567" y="2781069"/>
            <a:ext cx="2862072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91C21"/>
                </a:solidFill>
                <a:latin typeface="Times New Roman"/>
              </a:rPr>
              <a:t>Receives the four feature groups and predicts the most suitable encryption strategy.
Output: recommendation + confidence.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1207008"/>
            <a:ext cx="3383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POSSIBLE RECOMMENDATIONS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1572768"/>
            <a:ext cx="3794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35240" y="1572768"/>
            <a:ext cx="64008" cy="96012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9831" y="1700784"/>
            <a:ext cx="3520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AES-256-GCM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075688"/>
            <a:ext cx="3502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91C21"/>
                </a:solidFill>
                <a:latin typeface="Times New Roman"/>
              </a:rPr>
              <a:t>Authenticated symmetric encryption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07208"/>
            <a:ext cx="3794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35240" y="2807208"/>
            <a:ext cx="64008" cy="960120"/>
          </a:xfrm>
          <a:prstGeom prst="rect">
            <a:avLst/>
          </a:prstGeom>
          <a:solidFill>
            <a:srgbClr val="23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99831" y="2935224"/>
            <a:ext cx="3520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ChaCha20-Poly1305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1" y="3310128"/>
            <a:ext cx="3502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91C21"/>
                </a:solidFill>
                <a:latin typeface="Times New Roman"/>
              </a:rPr>
              <a:t>Authenticated stream encryption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041648"/>
            <a:ext cx="3794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35240" y="4041648"/>
            <a:ext cx="64008" cy="960120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9831" y="4169663"/>
            <a:ext cx="3520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Hybrid AES-256-GCM + RSA-2048 OAEP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9831" y="4544568"/>
            <a:ext cx="35021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91C21"/>
                </a:solidFill>
                <a:latin typeface="Times New Roman"/>
              </a:rPr>
              <a:t>AES encrypts data; RSA protects the AES key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75887" y="2743200"/>
            <a:ext cx="457200" cy="0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15200" y="2743200"/>
            <a:ext cx="274320" cy="0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25156" y="5555673"/>
            <a:ext cx="70408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42746"/>
                </a:solidFill>
                <a:latin typeface="Times New Roman"/>
              </a:rPr>
              <a:t>Important: Decision Tree = selection layer. Cryptographic algorithms = protection layer.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Module 3 — Adaptive Encryption &amp; Secure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259624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Performs the actual cryptography and exposes a transparent post-encryption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42746"/>
                </a:solidFill>
                <a:latin typeface="Times New Roman"/>
              </a:rPr>
              <a:t>CRYPTOGRAPHIC ALGORITHMS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26334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64008" cy="1508760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64207"/>
            <a:ext cx="23591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746"/>
                </a:solidFill>
                <a:latin typeface="Times New Roman"/>
              </a:rPr>
              <a:t>AES-256-GCM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39112"/>
            <a:ext cx="2340864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Symmetric authenticated encryption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47288" y="1536192"/>
            <a:ext cx="26334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47288" y="1536192"/>
            <a:ext cx="64008" cy="1508760"/>
          </a:xfrm>
          <a:prstGeom prst="rect">
            <a:avLst/>
          </a:prstGeom>
          <a:solidFill>
            <a:srgbClr val="23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664207"/>
            <a:ext cx="23591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746"/>
                </a:solidFill>
                <a:latin typeface="Times New Roman"/>
              </a:rPr>
              <a:t>ChaCha20-Poly1305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39112"/>
            <a:ext cx="2340864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Authenticated stream encryption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0216" y="1536192"/>
            <a:ext cx="26334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0216" y="1536192"/>
            <a:ext cx="64008" cy="1508760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664207"/>
            <a:ext cx="23591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746"/>
                </a:solidFill>
                <a:latin typeface="Times New Roman"/>
              </a:rPr>
              <a:t>RSA-2048 OAEP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39112"/>
            <a:ext cx="2340864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Asymmetric key protection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53144" y="1536192"/>
            <a:ext cx="263347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53144" y="1536192"/>
            <a:ext cx="64008" cy="1508760"/>
          </a:xfrm>
          <a:prstGeom prst="rect">
            <a:avLst/>
          </a:prstGeom>
          <a:solidFill>
            <a:srgbClr val="14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17736" y="1664207"/>
            <a:ext cx="23591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42746"/>
                </a:solidFill>
                <a:latin typeface="Times New Roman"/>
              </a:rPr>
              <a:t>SHA-256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039112"/>
            <a:ext cx="234086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Cryptographic hash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337560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42746"/>
                </a:solidFill>
                <a:latin typeface="Times New Roman"/>
              </a:rPr>
              <a:t>MODULE 3 WORKING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67328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04088" y="3877056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886200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" y="3877056"/>
            <a:ext cx="13167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Key / nonce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" y="4151376"/>
            <a:ext cx="1316736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8606C"/>
                </a:solidFill>
                <a:latin typeface="Times New Roman"/>
              </a:rPr>
              <a:t>Generate required cryptographic material; secret keys remain hidden.</a:t>
            </a:r>
            <a:endParaRPr lang="en-US" sz="12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606040" y="4462272"/>
            <a:ext cx="210312" cy="0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862072" y="3767328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971800" y="3877056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71800" y="3886200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47288" y="3877056"/>
            <a:ext cx="13167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Encrypt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4151376"/>
            <a:ext cx="1316736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8606C"/>
                </a:solidFill>
                <a:latin typeface="Times New Roman"/>
              </a:rPr>
              <a:t>Convert plaintext into ciphertext using the selected strategy.</a:t>
            </a:r>
            <a:endParaRPr lang="en-US" sz="12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4873752" y="4462272"/>
            <a:ext cx="210312" cy="0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129784" y="3767328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39512" y="3877056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9512" y="3886200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3877056"/>
            <a:ext cx="13167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Integrity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4151376"/>
            <a:ext cx="1316736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8606C"/>
                </a:solidFill>
                <a:latin typeface="Times New Roman"/>
              </a:rPr>
              <a:t>Use authentication + SHA-256 reference to detect alteration.</a:t>
            </a:r>
            <a:endParaRPr lang="en-US" sz="12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7141464" y="4462272"/>
            <a:ext cx="210312" cy="0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97496" y="3767328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07223" y="3877056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07223" y="3886200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82712" y="3877056"/>
            <a:ext cx="13167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2712" y="4151376"/>
            <a:ext cx="1316736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8606C"/>
                </a:solidFill>
                <a:latin typeface="Times New Roman"/>
              </a:rPr>
              <a:t>Keep ciphertext and non-secret metadata for authorized retrieval.</a:t>
            </a:r>
            <a:endParaRPr lang="en-US" sz="12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9409176" y="4462272"/>
            <a:ext cx="210312" cy="0"/>
          </a:xfrm>
          <a:prstGeom prst="line">
            <a:avLst/>
          </a:prstGeom>
          <a:ln w="25400">
            <a:solidFill>
              <a:srgbClr val="24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665208" y="3767328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774936" y="3877056"/>
            <a:ext cx="384048" cy="384048"/>
          </a:xfrm>
          <a:prstGeom prst="ellipse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74936" y="3886200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0424" y="3877056"/>
            <a:ext cx="13167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42746"/>
                </a:solidFill>
                <a:latin typeface="Times New Roman"/>
              </a:rPr>
              <a:t>Transparent actions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0424" y="4336103"/>
            <a:ext cx="131673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8606C"/>
                </a:solidFill>
                <a:latin typeface="Times New Roman"/>
              </a:rPr>
              <a:t>Save .aegis • Inspect ciphertext • Decrypt &amp; verify</a:t>
            </a:r>
            <a:endParaRPr lang="en-US" sz="1200" b="0" i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Module 4 — Audit, Performance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701" y="6242581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Turns cryptographic activity into measurable and traceable system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11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4762" y="1362456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Audit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64792"/>
            <a:ext cx="3182112" cy="23391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Login and failed-login events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Encryption and decryption events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AI recommendation events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Ciphertext inspection / save actions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Timestamped activity records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8083" y="1362456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182112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Encryption time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Decryption time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Algorithm usage statistics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Protected-file statistics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Performance dashboard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4494" y="1362456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764792"/>
            <a:ext cx="3182112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Authenticated users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User / administrator roles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Authorized file retrieval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Restricted administrative views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Security-focused monitoring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381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2701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2800" b="1">
                <a:solidFill>
                  <a:srgbClr val="142746"/>
                </a:solidFill>
                <a:latin typeface="Times New Roman"/>
                <a:cs typeface="Times New Roman"/>
              </a:rPr>
              <a:t>System working</a:t>
            </a:r>
            <a:endParaRPr lang="en-US" sz="2800" b="1" i="0" dirty="0">
              <a:solidFill>
                <a:srgbClr val="142746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350133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12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208" y="1584573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0167" y="5511184"/>
            <a:ext cx="3221930" cy="1066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0835" y="5511185"/>
            <a:ext cx="172864" cy="1054464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0569" y="5627105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746"/>
                </a:solidFill>
                <a:latin typeface="Times New Roman"/>
              </a:rPr>
              <a:t>↓ SAVE ENCRYPTED FILE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0569" y="6014105"/>
            <a:ext cx="295351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91C21"/>
                </a:solidFill>
                <a:latin typeface="Times New Roman"/>
              </a:rPr>
              <a:t>Downloads the actual ciphertext container as a .aegis file.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11958" y="5511183"/>
            <a:ext cx="3197739" cy="10665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551481" y="5547470"/>
            <a:ext cx="160769" cy="1030274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28169" y="5627105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746"/>
                </a:solidFill>
                <a:latin typeface="Times New Roman"/>
              </a:rPr>
              <a:t>⌕ INSPECT CIPHERTEXT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740" y="5953629"/>
            <a:ext cx="295351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191C21"/>
                </a:solidFill>
                <a:latin typeface="Times New Roman"/>
              </a:rPr>
              <a:t>Shows algorithm, nonce, authentication, SHA-256 and a hex preview of ciphertext.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33272" y="5523280"/>
            <a:ext cx="3185645" cy="1078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33272" y="5511185"/>
            <a:ext cx="160770" cy="1078654"/>
          </a:xfrm>
          <a:prstGeom prst="rect">
            <a:avLst/>
          </a:prstGeom>
          <a:solidFill>
            <a:srgbClr val="23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85769" y="5651296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42746"/>
                </a:solidFill>
                <a:latin typeface="Times New Roman"/>
              </a:rPr>
              <a:t>🔓 DECRYPT &amp; VERIFY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94626" y="6014105"/>
            <a:ext cx="295351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191C21"/>
                </a:solidFill>
                <a:latin typeface="Times New Roman"/>
              </a:rPr>
              <a:t>Decrypts for an authorized user and verifies integrity before returning the original.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A09835A2-F8BF-A8BF-46EF-BAC3BEBD6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4" t="9747" r="1400" b="12718"/>
          <a:stretch>
            <a:fillRect/>
          </a:stretch>
        </p:blipFill>
        <p:spPr>
          <a:xfrm>
            <a:off x="578709" y="820441"/>
            <a:ext cx="11041592" cy="44284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Functional outcomes demonstrated by the current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13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64008" cy="1298448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1673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42746"/>
                </a:solidFill>
                <a:latin typeface="Times New Roman"/>
              </a:rPr>
              <a:t>Secure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9164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Registration and login create the authenticated entry point.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64008" cy="1298448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31673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42746"/>
                </a:solidFill>
                <a:latin typeface="Times New Roman"/>
              </a:rPr>
              <a:t>Adaptive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9164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Decision Tree converts file/security characteristics into an algorithm recommendation.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88920"/>
            <a:ext cx="64008" cy="1298448"/>
          </a:xfrm>
          <a:prstGeom prst="rect">
            <a:avLst/>
          </a:prstGeom>
          <a:solidFill>
            <a:srgbClr val="237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1693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42746"/>
                </a:solidFill>
                <a:latin typeface="Times New Roman"/>
              </a:rPr>
              <a:t>Real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91839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The selected AES, ChaCha20 or hybrid cryptographic strategy produces ciphertext.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2788920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88920"/>
            <a:ext cx="64008" cy="1298448"/>
          </a:xfrm>
          <a:prstGeom prst="rect">
            <a:avLst/>
          </a:prstGeom>
          <a:solidFill>
            <a:srgbClr val="14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291693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42746"/>
                </a:solidFill>
                <a:latin typeface="Times New Roman"/>
              </a:rPr>
              <a:t>Transparent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91839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Users can save the encrypted output and inspect ciphertext metadata/hex bytes.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4389120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389120"/>
            <a:ext cx="64008" cy="1298448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451713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42746"/>
                </a:solidFill>
                <a:latin typeface="Times New Roman"/>
              </a:rPr>
              <a:t>Integrity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89204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SHA-256 plus authenticated-encryption checks support tamper detection.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09360" y="4389120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389120"/>
            <a:ext cx="64008" cy="1298448"/>
          </a:xfrm>
          <a:prstGeom prst="rect">
            <a:avLst/>
          </a:prstGeom>
          <a:solidFill>
            <a:srgbClr val="A07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517136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42746"/>
                </a:solidFill>
                <a:latin typeface="Times New Roman"/>
              </a:rPr>
              <a:t>Auditability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892040"/>
            <a:ext cx="50109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i="0">
                <a:solidFill>
                  <a:srgbClr val="191C21"/>
                </a:solidFill>
                <a:latin typeface="Times New Roman"/>
              </a:rPr>
              <a:t>Cryptographic activity and performance information are recorded for monitoring.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5613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42746"/>
                </a:solidFill>
                <a:latin typeface="Times New Roman"/>
              </a:rPr>
              <a:t>Discussion: the strongest contribution is the integration of adaptive selection + established cryptography + transparent verification in one demonstrable workflow.</a:t>
            </a:r>
            <a:endParaRPr lang="en-US" sz="1600" b="1" i="0">
              <a:solidFill>
                <a:srgbClr val="142746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Advantages Compared with a Fixed Encryption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602" y="6356386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8606C"/>
                </a:solidFill>
                <a:latin typeface="Times New Roman"/>
              </a:rPr>
              <a:t>Why the proposed workflow is useful beyond simply encrypting a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14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665696"/>
              </p:ext>
            </p:extLst>
          </p:nvPr>
        </p:nvGraphicFramePr>
        <p:xfrm>
          <a:off x="502920" y="1188720"/>
          <a:ext cx="11201399" cy="4949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Fixed / conventional approach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Proposed AEGIS approach</a:t>
                      </a:r>
                    </a:p>
                  </a:txBody>
                  <a:tcPr>
                    <a:solidFill>
                      <a:srgbClr val="14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Algorithm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One predefined encryption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ML-assisted adaptive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Adaptation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Limited or manual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Uses file characteristics + security preference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Cryptography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Encryption may be treated as a black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Algorithm, parameters and process are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Integrity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May be handled separately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Authenticated encryption + SHA-256 reference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Key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Depends on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Dedicated key generation; RSA protection in hybrid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User evidence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Basic success/failure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Save ciphertext + inspect ciphertext + verification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Limited activity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191C21"/>
                          </a:solidFill>
                          <a:latin typeface="Times New Roman"/>
                        </a:rPr>
                        <a:t>Audit logs + algorithm/performance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42746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5156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lang="en-US" sz="1150" b="0" i="0" dirty="0">
              <a:solidFill>
                <a:srgbClr val="58606C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US" sz="1200" b="1">
                <a:solidFill>
                  <a:srgbClr val="245B91"/>
                </a:solidFill>
                <a:latin typeface="Times New Roman"/>
              </a:rPr>
              <a:t>15</a:t>
            </a:r>
            <a:endParaRPr sz="1200" b="1" i="0">
              <a:solidFill>
                <a:srgbClr val="245B9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6527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453895"/>
            <a:ext cx="10378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42746"/>
                </a:solidFill>
                <a:latin typeface="Times New Roman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10360152" cy="26161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AEGIS combines Machine Learning with established cryptographic algorithms rather than replacing cryptography with AI.</a:t>
            </a:r>
            <a:endParaRPr lang="en-US"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The Decision Tree performs adaptive selection using file type, size, sensitivity and priority.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AES-256-GCM, ChaCha20-Poly1305 and Hybrid AES-256-GCM + RSA-2048 OAEP provide the protection layer.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SHA-256 and authenticated encryption support integrity verification.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191C21"/>
                </a:solidFill>
                <a:latin typeface="Times New Roman"/>
              </a:rPr>
              <a:t>• The application makes the process demonstrable through .aegis saving, ciphertext inspection, decryption, audit logging and performance monitoring.</a:t>
            </a:r>
            <a:endParaRPr b="0" i="0">
              <a:solidFill>
                <a:srgbClr val="191C21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99669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142746"/>
                </a:solidFill>
                <a:latin typeface="Times New Roman"/>
              </a:rPr>
              <a:t>Final message: Intelligent selection + strong cryptography + transparent evidence = practical adaptive data protection.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0876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3600" b="1" i="0">
                <a:solidFill>
                  <a:srgbClr val="142746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245B91"/>
                </a:solidFill>
                <a:latin typeface="Times New Roman"/>
              </a:rPr>
              <a:t>AI-Powered Adaptive Encryption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3063240"/>
            <a:ext cx="4663440" cy="41148"/>
          </a:xfrm>
          <a:prstGeom prst="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429000"/>
            <a:ext cx="8503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0" i="0">
                <a:solidFill>
                  <a:srgbClr val="191C21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60520"/>
            <a:ext cx="8503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50" b="0" i="0">
                <a:solidFill>
                  <a:srgbClr val="58606C"/>
                </a:solidFill>
                <a:latin typeface="Times New Roman"/>
              </a:rPr>
              <a:t>Cryptography • Machine Learning • Secure File Protection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230</cp:revision>
  <dcterms:created xsi:type="dcterms:W3CDTF">2013-01-27T09:14:16Z</dcterms:created>
  <dcterms:modified xsi:type="dcterms:W3CDTF">2026-09-01T03:53:29Z</dcterms:modified>
  <cp:category/>
</cp:coreProperties>
</file>